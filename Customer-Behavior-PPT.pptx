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</p:sldIdLst>
  <p:sldSz cx="14630400" cy="8229600"/>
  <p:notesSz cx="8229600" cy="14630400"/>
  <p:embeddedFontLst>
    <p:embeddedFont>
      <p:font typeface="Alexandria Semi Bold" panose="020B0604020202020204" charset="-78"/>
      <p:regular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Sora Light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6" d="100"/>
          <a:sy n="56" d="100"/>
        </p:scale>
        <p:origin x="620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9829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2892862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Customer Behavior Dashboard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44709" y="4643199"/>
            <a:ext cx="76273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Transforming raw data into actionable customer insights for strategic decision-making</a:t>
            </a:r>
            <a:endParaRPr lang="en-US" sz="17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D4C1A0-9E86-FC30-65F9-14947D92A784}"/>
              </a:ext>
            </a:extLst>
          </p:cNvPr>
          <p:cNvSpPr/>
          <p:nvPr/>
        </p:nvSpPr>
        <p:spPr>
          <a:xfrm>
            <a:off x="12813030" y="7726680"/>
            <a:ext cx="1737360" cy="41148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2902506"/>
            <a:ext cx="6020038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Dashboard Overview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44709" y="3940135"/>
            <a:ext cx="7627382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 comprehensive analytical tool that captures customer purchasing patterns, demographic preferences, and transaction behaviors across multiple dimensions including age, gender, location, and payment methods.</a:t>
            </a:r>
            <a:endParaRPr lang="en-US" sz="17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B96CA0-B394-3C46-0DED-630F64D30BA9}"/>
              </a:ext>
            </a:extLst>
          </p:cNvPr>
          <p:cNvSpPr/>
          <p:nvPr/>
        </p:nvSpPr>
        <p:spPr>
          <a:xfrm>
            <a:off x="12813030" y="7726680"/>
            <a:ext cx="1737360" cy="41148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2372797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Customer Behavior Dashboard Overview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58309" y="4123134"/>
            <a:ext cx="7627382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This dashboard analyzes customer purchasing behavior across different demographics, payment methods, and product categories. It helps businesses understand revenue distribution, customer segments, and shopping preferences to support data-driven decisions.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109907"/>
            <a:ext cx="8016954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Key Performance Indicators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3364111"/>
            <a:ext cx="6421517" cy="714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56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251.51M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2543651" y="434971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Total Revenue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58309" y="4835843"/>
            <a:ext cx="6421517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Overall sales generated across all customer segments and product categories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450574" y="3364111"/>
            <a:ext cx="6421517" cy="714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56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299K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9235916" y="434971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Quantity Sold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450574" y="4835843"/>
            <a:ext cx="6421517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Total products purchased demonstrating strong market demand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58309" y="5772983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These KPIs show strong business performance with high product demand and significant overall revenue generation.</a:t>
            </a:r>
            <a:endParaRPr lang="en-US" sz="17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E5D7D6-006C-AACD-0CF2-4DDA0DE11CB9}"/>
              </a:ext>
            </a:extLst>
          </p:cNvPr>
          <p:cNvSpPr/>
          <p:nvPr/>
        </p:nvSpPr>
        <p:spPr>
          <a:xfrm>
            <a:off x="12813030" y="7726680"/>
            <a:ext cx="1737360" cy="41148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1890355"/>
            <a:ext cx="6567249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Revenue by Age Group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44709" y="3144560"/>
            <a:ext cx="2189678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56+ Age Group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44709" y="3717369"/>
            <a:ext cx="2189678" cy="2426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Generates </a:t>
            </a:r>
            <a:r>
              <a:rPr lang="en-US" sz="17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67.10M</a:t>
            </a: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in revenue, indicating strongest purchasing power and higher spending capacity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8970645" y="3144560"/>
            <a:ext cx="2189678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Mid-Age Groups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970645" y="4073604"/>
            <a:ext cx="2189678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Aged 36–45 and 46–55 also contribute significantly to overall revenue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1696581" y="3144560"/>
            <a:ext cx="2189678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Younger Customers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1696581" y="4073604"/>
            <a:ext cx="2189678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Aged 18–25 generate lowest revenue, presenting growth opportunity</a:t>
            </a:r>
            <a:endParaRPr lang="en-US" sz="17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5E290B-3AE6-A9E6-2CD4-4BDA3B401029}"/>
              </a:ext>
            </a:extLst>
          </p:cNvPr>
          <p:cNvSpPr/>
          <p:nvPr/>
        </p:nvSpPr>
        <p:spPr>
          <a:xfrm>
            <a:off x="12813030" y="7726680"/>
            <a:ext cx="1737360" cy="41148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042868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Revenue by Gender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2636520" y="3596997"/>
            <a:ext cx="2664857" cy="541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250"/>
              </a:lnSpc>
              <a:buNone/>
            </a:pPr>
            <a:r>
              <a:rPr lang="en-US" sz="42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59.8%</a:t>
            </a:r>
            <a:endParaRPr lang="en-US" sz="4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4103" y="2242899"/>
            <a:ext cx="3249930" cy="32499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43651" y="576345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Female Customers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58309" y="6249591"/>
            <a:ext cx="642151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Primary revenue contributors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328785" y="3596997"/>
            <a:ext cx="2664857" cy="541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250"/>
              </a:lnSpc>
              <a:buNone/>
            </a:pPr>
            <a:r>
              <a:rPr lang="en-US" sz="42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40.2%</a:t>
            </a:r>
            <a:endParaRPr lang="en-US" sz="42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6368" y="2242899"/>
            <a:ext cx="3249930" cy="32499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235916" y="576345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Male Customers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450574" y="6249591"/>
            <a:ext cx="642151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Secondary revenue source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758309" y="6840022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This indicates that female shoppers play a major role in overall sales.</a:t>
            </a:r>
            <a:endParaRPr lang="en-US" sz="17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4A54DB-9A1A-9D90-4553-76BD776BFDCC}"/>
              </a:ext>
            </a:extLst>
          </p:cNvPr>
          <p:cNvSpPr/>
          <p:nvPr/>
        </p:nvSpPr>
        <p:spPr>
          <a:xfrm>
            <a:off x="12813030" y="7726680"/>
            <a:ext cx="1737360" cy="41148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696998"/>
            <a:ext cx="12447508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Shopping Mall &amp; Payment Method Analysis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58309" y="3167896"/>
            <a:ext cx="4226838" cy="3364587"/>
          </a:xfrm>
          <a:prstGeom prst="roundRect">
            <a:avLst>
              <a:gd name="adj" fmla="val 4348"/>
            </a:avLst>
          </a:prstGeom>
          <a:solidFill>
            <a:srgbClr val="FFFAFA"/>
          </a:solidFill>
          <a:ln/>
        </p:spPr>
      </p:sp>
      <p:sp>
        <p:nvSpPr>
          <p:cNvPr id="4" name="Shape 2"/>
          <p:cNvSpPr/>
          <p:nvPr/>
        </p:nvSpPr>
        <p:spPr>
          <a:xfrm>
            <a:off x="758309" y="3137416"/>
            <a:ext cx="4226838" cy="121920"/>
          </a:xfrm>
          <a:prstGeom prst="roundRect">
            <a:avLst>
              <a:gd name="adj" fmla="val 74638"/>
            </a:avLst>
          </a:prstGeom>
          <a:solidFill>
            <a:srgbClr val="1A2D7A"/>
          </a:solidFill>
          <a:ln/>
        </p:spPr>
      </p:sp>
      <p:sp>
        <p:nvSpPr>
          <p:cNvPr id="5" name="Shape 3"/>
          <p:cNvSpPr/>
          <p:nvPr/>
        </p:nvSpPr>
        <p:spPr>
          <a:xfrm>
            <a:off x="2546687" y="2842974"/>
            <a:ext cx="649962" cy="649962"/>
          </a:xfrm>
          <a:prstGeom prst="roundRect">
            <a:avLst>
              <a:gd name="adj" fmla="val 140685"/>
            </a:avLst>
          </a:prstGeom>
          <a:solidFill>
            <a:srgbClr val="1A2D7A"/>
          </a:solidFill>
          <a:ln/>
        </p:spPr>
      </p:sp>
      <p:sp>
        <p:nvSpPr>
          <p:cNvPr id="6" name="Text 4"/>
          <p:cNvSpPr/>
          <p:nvPr/>
        </p:nvSpPr>
        <p:spPr>
          <a:xfrm>
            <a:off x="2741712" y="3005495"/>
            <a:ext cx="259913" cy="324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364" y="3709511"/>
            <a:ext cx="3732728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Kanyon Mall Performance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364" y="4551878"/>
            <a:ext cx="3732728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Generates the highest revenue compared to other shopping locations, indicating strongest customer traffic and purchasing activity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201722" y="3167896"/>
            <a:ext cx="4226838" cy="3364587"/>
          </a:xfrm>
          <a:prstGeom prst="roundRect">
            <a:avLst>
              <a:gd name="adj" fmla="val 4348"/>
            </a:avLst>
          </a:prstGeom>
          <a:solidFill>
            <a:srgbClr val="FFFAFA"/>
          </a:solidFill>
          <a:ln/>
        </p:spPr>
      </p:sp>
      <p:sp>
        <p:nvSpPr>
          <p:cNvPr id="10" name="Shape 8"/>
          <p:cNvSpPr/>
          <p:nvPr/>
        </p:nvSpPr>
        <p:spPr>
          <a:xfrm>
            <a:off x="5201722" y="3137416"/>
            <a:ext cx="4226838" cy="121920"/>
          </a:xfrm>
          <a:prstGeom prst="roundRect">
            <a:avLst>
              <a:gd name="adj" fmla="val 74638"/>
            </a:avLst>
          </a:prstGeom>
          <a:solidFill>
            <a:srgbClr val="1A2D7A"/>
          </a:solidFill>
          <a:ln/>
        </p:spPr>
      </p:sp>
      <p:sp>
        <p:nvSpPr>
          <p:cNvPr id="11" name="Shape 9"/>
          <p:cNvSpPr/>
          <p:nvPr/>
        </p:nvSpPr>
        <p:spPr>
          <a:xfrm>
            <a:off x="6990100" y="2842974"/>
            <a:ext cx="649962" cy="649962"/>
          </a:xfrm>
          <a:prstGeom prst="roundRect">
            <a:avLst>
              <a:gd name="adj" fmla="val 140685"/>
            </a:avLst>
          </a:prstGeom>
          <a:solidFill>
            <a:srgbClr val="1A2D7A"/>
          </a:solidFill>
          <a:ln/>
        </p:spPr>
      </p:sp>
      <p:sp>
        <p:nvSpPr>
          <p:cNvPr id="12" name="Text 10"/>
          <p:cNvSpPr/>
          <p:nvPr/>
        </p:nvSpPr>
        <p:spPr>
          <a:xfrm>
            <a:off x="7185124" y="3005495"/>
            <a:ext cx="259913" cy="324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48776" y="3709511"/>
            <a:ext cx="3383161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Credit Card Dominance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48776" y="4195643"/>
            <a:ext cx="3732728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Credit card payments lead all transaction methods, followed by debit cards and cash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9645134" y="3167896"/>
            <a:ext cx="4226957" cy="3364587"/>
          </a:xfrm>
          <a:prstGeom prst="roundRect">
            <a:avLst>
              <a:gd name="adj" fmla="val 4348"/>
            </a:avLst>
          </a:prstGeom>
          <a:solidFill>
            <a:srgbClr val="FF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9645134" y="3137416"/>
            <a:ext cx="4226957" cy="121920"/>
          </a:xfrm>
          <a:prstGeom prst="roundRect">
            <a:avLst>
              <a:gd name="adj" fmla="val 74638"/>
            </a:avLst>
          </a:prstGeom>
          <a:solidFill>
            <a:srgbClr val="1A2D7A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33631" y="2842974"/>
            <a:ext cx="649962" cy="649962"/>
          </a:xfrm>
          <a:prstGeom prst="roundRect">
            <a:avLst>
              <a:gd name="adj" fmla="val 140685"/>
            </a:avLst>
          </a:prstGeom>
          <a:solidFill>
            <a:srgbClr val="1A2D7A"/>
          </a:solidFill>
          <a:ln/>
        </p:spPr>
      </p:sp>
      <p:sp>
        <p:nvSpPr>
          <p:cNvPr id="18" name="Text 16"/>
          <p:cNvSpPr/>
          <p:nvPr/>
        </p:nvSpPr>
        <p:spPr>
          <a:xfrm>
            <a:off x="11628656" y="3005495"/>
            <a:ext cx="259913" cy="324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892189" y="3709511"/>
            <a:ext cx="3732848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Digital Payment Preference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892189" y="4551878"/>
            <a:ext cx="3732848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Card-based transactions suggest customers value convenience and modern purchasing behavior</a:t>
            </a:r>
            <a:endParaRPr lang="en-US" sz="17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E511780-F10B-72E2-2982-44A8C0FB0C2F}"/>
              </a:ext>
            </a:extLst>
          </p:cNvPr>
          <p:cNvSpPr/>
          <p:nvPr/>
        </p:nvSpPr>
        <p:spPr>
          <a:xfrm>
            <a:off x="12813030" y="7726680"/>
            <a:ext cx="1737360" cy="41148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2049304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Category Distribution by Gender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44709" y="4016216"/>
            <a:ext cx="3549372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Female Customer Dominance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44709" y="4945261"/>
            <a:ext cx="354937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Female customers dominate purchases across most product categories in the dataset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330339" y="4016216"/>
            <a:ext cx="3045381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Strategic Implication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330339" y="4589026"/>
            <a:ext cx="3549372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This suggests stronger engagement of female customers in product purchasing behavior</a:t>
            </a:r>
            <a:endParaRPr lang="en-US" sz="17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F8B0E6-E26F-6FC9-CACC-EAF32E01BFCA}"/>
              </a:ext>
            </a:extLst>
          </p:cNvPr>
          <p:cNvSpPr/>
          <p:nvPr/>
        </p:nvSpPr>
        <p:spPr>
          <a:xfrm>
            <a:off x="12813030" y="7726680"/>
            <a:ext cx="1737360" cy="41148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912144"/>
            <a:ext cx="6900743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Age-Wise Quantity Sold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3708083"/>
            <a:ext cx="4226838" cy="1143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4884" y="457461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56+ Age Group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74884" y="5060752"/>
            <a:ext cx="3793688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Purchase the highest quantity of products, demonstrating highest purchasing frequency</a:t>
            </a:r>
            <a:endParaRPr lang="en-US" sz="1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1722" y="3383042"/>
            <a:ext cx="4226838" cy="1143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18296" y="424957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Gradual Decrease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418296" y="4735711"/>
            <a:ext cx="3793688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Product demand decreases progressively with younger age groups</a:t>
            </a:r>
            <a:endParaRPr lang="en-US" sz="1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5134" y="3058120"/>
            <a:ext cx="4226957" cy="1143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861709" y="392465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Key Insight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861709" y="4410789"/>
            <a:ext cx="3793807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Higher purchasing frequency among older customers suggests brand loyalty</a:t>
            </a:r>
            <a:endParaRPr lang="en-US" sz="17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2F2772-93B3-8387-D0DD-C68F61BA037C}"/>
              </a:ext>
            </a:extLst>
          </p:cNvPr>
          <p:cNvSpPr/>
          <p:nvPr/>
        </p:nvSpPr>
        <p:spPr>
          <a:xfrm>
            <a:off x="12813030" y="7726680"/>
            <a:ext cx="1737360" cy="41148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939046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Business Insights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58309" y="2085023"/>
            <a:ext cx="6448544" cy="2494478"/>
          </a:xfrm>
          <a:prstGeom prst="roundRect">
            <a:avLst>
              <a:gd name="adj" fmla="val 3648"/>
            </a:avLst>
          </a:prstGeom>
          <a:solidFill>
            <a:srgbClr val="D5DCF6"/>
          </a:solidFill>
          <a:ln w="7620">
            <a:solidFill>
              <a:srgbClr val="E2C2B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2504" y="2309217"/>
            <a:ext cx="649962" cy="649962"/>
          </a:xfrm>
          <a:prstGeom prst="roundRect">
            <a:avLst>
              <a:gd name="adj" fmla="val 14067108"/>
            </a:avLst>
          </a:prstGeom>
          <a:solidFill>
            <a:srgbClr val="E2C2B3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217" y="2487930"/>
            <a:ext cx="292418" cy="2924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82504" y="3175754"/>
            <a:ext cx="4191476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Target Marketing Campaigns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82504" y="3661886"/>
            <a:ext cx="6000155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Focus promotional efforts on the 56+ age group with highest purchasing power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423428" y="2085023"/>
            <a:ext cx="6448663" cy="2494478"/>
          </a:xfrm>
          <a:prstGeom prst="roundRect">
            <a:avLst>
              <a:gd name="adj" fmla="val 3648"/>
            </a:avLst>
          </a:prstGeom>
          <a:solidFill>
            <a:srgbClr val="D5DCF6"/>
          </a:solidFill>
          <a:ln w="7620">
            <a:solidFill>
              <a:srgbClr val="E2C2B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47623" y="2309217"/>
            <a:ext cx="649962" cy="649962"/>
          </a:xfrm>
          <a:prstGeom prst="roundRect">
            <a:avLst>
              <a:gd name="adj" fmla="val 14067108"/>
            </a:avLst>
          </a:prstGeom>
          <a:solidFill>
            <a:srgbClr val="E2C2B3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26335" y="2487930"/>
            <a:ext cx="292418" cy="29241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47623" y="3175754"/>
            <a:ext cx="4728567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Strengthen Female Engagement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647623" y="3661886"/>
            <a:ext cx="6000274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Develop strategies to maintain and grow female customer base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758309" y="4796076"/>
            <a:ext cx="6448544" cy="2494478"/>
          </a:xfrm>
          <a:prstGeom prst="roundRect">
            <a:avLst>
              <a:gd name="adj" fmla="val 3648"/>
            </a:avLst>
          </a:prstGeom>
          <a:solidFill>
            <a:srgbClr val="D5DCF6"/>
          </a:solidFill>
          <a:ln w="7620">
            <a:solidFill>
              <a:srgbClr val="E2C2B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82504" y="5020270"/>
            <a:ext cx="649962" cy="649962"/>
          </a:xfrm>
          <a:prstGeom prst="roundRect">
            <a:avLst>
              <a:gd name="adj" fmla="val 14067108"/>
            </a:avLst>
          </a:prstGeom>
          <a:solidFill>
            <a:srgbClr val="E2C2B3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61217" y="5198983"/>
            <a:ext cx="292418" cy="29241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2504" y="5886807"/>
            <a:ext cx="381214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Promote Digital Payments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2504" y="6372939"/>
            <a:ext cx="6000155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Encourage digital transactions for smoother checkout experiences</a:t>
            </a:r>
            <a:endParaRPr lang="en-US" sz="1700" dirty="0"/>
          </a:p>
        </p:txBody>
      </p:sp>
      <p:sp>
        <p:nvSpPr>
          <p:cNvPr id="18" name="Shape 13"/>
          <p:cNvSpPr/>
          <p:nvPr/>
        </p:nvSpPr>
        <p:spPr>
          <a:xfrm>
            <a:off x="7423428" y="4796076"/>
            <a:ext cx="6448663" cy="2494478"/>
          </a:xfrm>
          <a:prstGeom prst="roundRect">
            <a:avLst>
              <a:gd name="adj" fmla="val 3648"/>
            </a:avLst>
          </a:prstGeom>
          <a:solidFill>
            <a:srgbClr val="D5DCF6"/>
          </a:solidFill>
          <a:ln w="7620">
            <a:solidFill>
              <a:srgbClr val="E2C2B3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647623" y="5020270"/>
            <a:ext cx="649962" cy="649962"/>
          </a:xfrm>
          <a:prstGeom prst="roundRect">
            <a:avLst>
              <a:gd name="adj" fmla="val 14067108"/>
            </a:avLst>
          </a:prstGeom>
          <a:solidFill>
            <a:srgbClr val="E2C2B3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26335" y="5198983"/>
            <a:ext cx="292418" cy="29241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47623" y="5886807"/>
            <a:ext cx="4557474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Engage Younger Demographics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7647623" y="6372939"/>
            <a:ext cx="6000274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Increase product promotions specifically for younger age groups</a:t>
            </a:r>
            <a:endParaRPr lang="en-US" sz="17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27045DC-6C83-BEF1-447F-ADA9B0ECC9B5}"/>
              </a:ext>
            </a:extLst>
          </p:cNvPr>
          <p:cNvSpPr/>
          <p:nvPr/>
        </p:nvSpPr>
        <p:spPr>
          <a:xfrm>
            <a:off x="12813030" y="7726680"/>
            <a:ext cx="1737360" cy="41148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55E634-D0C6-5EA8-312F-DAC1193E6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724" y="1105436"/>
            <a:ext cx="5012426" cy="279219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6B0CBE9-46BD-3A6A-6BC7-C0E2E7EBE080}"/>
              </a:ext>
            </a:extLst>
          </p:cNvPr>
          <p:cNvSpPr txBox="1"/>
          <p:nvPr/>
        </p:nvSpPr>
        <p:spPr>
          <a:xfrm>
            <a:off x="6555476" y="1676784"/>
            <a:ext cx="73152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B0F0"/>
                </a:solidFill>
              </a:rPr>
              <a:t>Customers aged </a:t>
            </a:r>
            <a:r>
              <a:rPr lang="en-US" sz="2000" b="1" dirty="0">
                <a:solidFill>
                  <a:srgbClr val="00B0F0"/>
                </a:solidFill>
              </a:rPr>
              <a:t>56+ generate the highest revenue (67.10M)</a:t>
            </a:r>
            <a:r>
              <a:rPr lang="en-US" sz="2000" dirty="0">
                <a:solidFill>
                  <a:srgbClr val="00B0F0"/>
                </a:solidFill>
              </a:rPr>
              <a:t>, showing the strongest purchasing power. The </a:t>
            </a:r>
            <a:r>
              <a:rPr lang="en-US" sz="2000" b="1" dirty="0">
                <a:solidFill>
                  <a:srgbClr val="00B0F0"/>
                </a:solidFill>
              </a:rPr>
              <a:t>36–45 and 46–55 age groups</a:t>
            </a:r>
            <a:r>
              <a:rPr lang="en-US" sz="2000" dirty="0">
                <a:solidFill>
                  <a:srgbClr val="00B0F0"/>
                </a:solidFill>
              </a:rPr>
              <a:t> also contribute significantly to sales. In comparison, the </a:t>
            </a:r>
            <a:r>
              <a:rPr lang="en-US" sz="2000" b="1" dirty="0">
                <a:solidFill>
                  <a:srgbClr val="00B0F0"/>
                </a:solidFill>
              </a:rPr>
              <a:t>18–25 age group generates the lowest revenue (38.12M)</a:t>
            </a:r>
            <a:r>
              <a:rPr lang="en-US" sz="2000" dirty="0">
                <a:solidFill>
                  <a:srgbClr val="00B0F0"/>
                </a:solidFill>
              </a:rPr>
              <a:t>, indicating lower spending among younger customers.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E5FA2D-E705-84BD-9C0F-44510D005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725" y="5057603"/>
            <a:ext cx="5241026" cy="245779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DE4D240-B46E-9F2E-F67B-5563293855E7}"/>
              </a:ext>
            </a:extLst>
          </p:cNvPr>
          <p:cNvSpPr txBox="1"/>
          <p:nvPr/>
        </p:nvSpPr>
        <p:spPr>
          <a:xfrm>
            <a:off x="6446520" y="5606505"/>
            <a:ext cx="73152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B0F0"/>
                </a:solidFill>
              </a:rPr>
              <a:t>The </a:t>
            </a:r>
            <a:r>
              <a:rPr lang="en-US" sz="2000" b="1" dirty="0">
                <a:solidFill>
                  <a:srgbClr val="00B0F0"/>
                </a:solidFill>
              </a:rPr>
              <a:t>56+ age group purchases the highest quantity of products</a:t>
            </a:r>
            <a:r>
              <a:rPr lang="en-US" sz="2000" dirty="0">
                <a:solidFill>
                  <a:srgbClr val="00B0F0"/>
                </a:solidFill>
              </a:rPr>
              <a:t>, showing the strongest buying activity. Sales gradually decrease across younger age groups, with the </a:t>
            </a:r>
            <a:r>
              <a:rPr lang="en-US" sz="2000" b="1" dirty="0">
                <a:solidFill>
                  <a:srgbClr val="00B0F0"/>
                </a:solidFill>
              </a:rPr>
              <a:t>18–25 group purchasing the least</a:t>
            </a:r>
            <a:r>
              <a:rPr lang="en-US" sz="2000" dirty="0">
                <a:solidFill>
                  <a:srgbClr val="00B0F0"/>
                </a:solidFill>
              </a:rPr>
              <a:t>. This indicates that older customers tend to buy products more frequently.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6DF3FD-307F-2033-6FD1-71E9E86E8B75}"/>
              </a:ext>
            </a:extLst>
          </p:cNvPr>
          <p:cNvSpPr/>
          <p:nvPr/>
        </p:nvSpPr>
        <p:spPr>
          <a:xfrm>
            <a:off x="12813030" y="7726680"/>
            <a:ext cx="1737360" cy="41148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352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DB9D18-7243-DF7C-98C8-DA3E0A10E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810" y="665672"/>
            <a:ext cx="4273100" cy="320909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09DAFF1-B29F-3854-4B99-782BEF0904CA}"/>
              </a:ext>
            </a:extLst>
          </p:cNvPr>
          <p:cNvSpPr txBox="1"/>
          <p:nvPr/>
        </p:nvSpPr>
        <p:spPr>
          <a:xfrm>
            <a:off x="5600700" y="1577399"/>
            <a:ext cx="73152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</a:rPr>
              <a:t>Female customers contribute the majority of revenue with 59.81% (179K), while male customers account for 40.19% (120K). This indicates that female shoppers play a more significant role in overall sales and purchasing activity.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57ACAA-C106-3E4C-E07C-DAA1FDEE896F}"/>
              </a:ext>
            </a:extLst>
          </p:cNvPr>
          <p:cNvSpPr txBox="1"/>
          <p:nvPr/>
        </p:nvSpPr>
        <p:spPr>
          <a:xfrm>
            <a:off x="5909310" y="5420544"/>
            <a:ext cx="73152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B0F0"/>
                </a:solidFill>
              </a:rPr>
              <a:t>Female customers account for the majority of purchases with </a:t>
            </a:r>
            <a:r>
              <a:rPr lang="en-US" sz="2000" b="1" dirty="0">
                <a:solidFill>
                  <a:srgbClr val="00B0F0"/>
                </a:solidFill>
              </a:rPr>
              <a:t>59.81% (59.48K)</a:t>
            </a:r>
            <a:r>
              <a:rPr lang="en-US" sz="2000" dirty="0">
                <a:solidFill>
                  <a:srgbClr val="00B0F0"/>
                </a:solidFill>
              </a:rPr>
              <a:t>, while </a:t>
            </a:r>
            <a:r>
              <a:rPr lang="en-US" sz="2000" b="1" dirty="0">
                <a:solidFill>
                  <a:srgbClr val="00B0F0"/>
                </a:solidFill>
              </a:rPr>
              <a:t>male customers contribute 40.19% (39.98K)</a:t>
            </a:r>
            <a:r>
              <a:rPr lang="en-US" sz="2000" dirty="0">
                <a:solidFill>
                  <a:srgbClr val="00B0F0"/>
                </a:solidFill>
              </a:rPr>
              <a:t>. This shows that female shoppers are more active across product categories and drive a larger share of total purchases.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A9C2141-927E-01B0-4431-6F5FDAB438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1" y="4892040"/>
            <a:ext cx="4526280" cy="285749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06BB943-54B2-E0A5-2E34-77B311B42D13}"/>
              </a:ext>
            </a:extLst>
          </p:cNvPr>
          <p:cNvSpPr/>
          <p:nvPr/>
        </p:nvSpPr>
        <p:spPr>
          <a:xfrm>
            <a:off x="12813030" y="7726680"/>
            <a:ext cx="1737360" cy="41148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3625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D5E48E-22EB-5891-6557-BEF7FDD52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34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4478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19</TotalTime>
  <Words>570</Words>
  <Application>Microsoft Office PowerPoint</Application>
  <PresentationFormat>Custom</PresentationFormat>
  <Paragraphs>74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Calibri</vt:lpstr>
      <vt:lpstr>Arial</vt:lpstr>
      <vt:lpstr>Alexandria Semi Bold</vt:lpstr>
      <vt:lpstr>Sora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Admin</dc:creator>
  <cp:lastModifiedBy>aayushi tejwani</cp:lastModifiedBy>
  <cp:revision>4</cp:revision>
  <dcterms:created xsi:type="dcterms:W3CDTF">2026-03-09T12:06:04Z</dcterms:created>
  <dcterms:modified xsi:type="dcterms:W3CDTF">2026-03-10T05:11:16Z</dcterms:modified>
</cp:coreProperties>
</file>